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097" y="1852863"/>
            <a:ext cx="9443220" cy="1283529"/>
          </a:xfrm>
        </p:spPr>
        <p:txBody>
          <a:bodyPr/>
          <a:lstStyle/>
          <a:p>
            <a:r>
              <a:rPr lang="en-IN" sz="5000" dirty="0"/>
              <a:t>Cyber Security Threat Analysis</a:t>
            </a: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3811" y="3136392"/>
            <a:ext cx="7625133" cy="1453896"/>
          </a:xfrm>
        </p:spPr>
        <p:txBody>
          <a:bodyPr/>
          <a:lstStyle/>
          <a:p>
            <a:r>
              <a:rPr lang="en-IN" dirty="0"/>
              <a:t>Using Microsoft Power 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440195" cy="43663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Cybersecurity incidents can have significant financial, operational, and data-related consequences for organizations.</a:t>
            </a:r>
          </a:p>
          <a:p>
            <a:pPr marL="0" indent="0">
              <a:buNone/>
            </a:pPr>
            <a:r>
              <a:rPr lang="en-US" dirty="0"/>
              <a:t>In this project, I analyzed cybersecurity incident data to understand:</a:t>
            </a:r>
          </a:p>
          <a:p>
            <a:r>
              <a:rPr lang="en-US" dirty="0"/>
              <a:t>Trends in cybersecurity incidents over time </a:t>
            </a:r>
          </a:p>
          <a:p>
            <a:r>
              <a:rPr lang="en-US" dirty="0"/>
              <a:t>Major threat types affecting the organization </a:t>
            </a:r>
          </a:p>
          <a:p>
            <a:r>
              <a:rPr lang="en-US" dirty="0"/>
              <a:t>Distribution of threat severity </a:t>
            </a:r>
          </a:p>
          <a:p>
            <a:r>
              <a:rPr lang="en-US" dirty="0"/>
              <a:t>Financial and data breach impact </a:t>
            </a:r>
          </a:p>
          <a:p>
            <a:r>
              <a:rPr lang="en-US" dirty="0"/>
              <a:t>Assets and departments affected by incidents </a:t>
            </a:r>
          </a:p>
          <a:p>
            <a:r>
              <a:rPr lang="en-US" dirty="0"/>
              <a:t>Incident resolution performance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b="1" dirty="0"/>
              <a:t>Microsoft Power BI</a:t>
            </a:r>
            <a:r>
              <a:rPr lang="en-US" dirty="0"/>
              <a:t>, I transformed the raw dataset into an interactive </a:t>
            </a:r>
            <a:r>
              <a:rPr lang="en-US" b="1" dirty="0"/>
              <a:t>three-page business intelligence solution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9554-A10F-024E-FFB1-58B51EE4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2CC784-90E1-6A8D-3461-A7D10F88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609C1-8961-0069-28F2-FD4BFEB2F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440195" cy="44786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Organizations generate large amounts of cybersecurity incident data, but raw data alone does not provide an easy way to identify important patterns.</a:t>
            </a:r>
          </a:p>
          <a:p>
            <a:pPr marL="0" indent="0">
              <a:buNone/>
            </a:pPr>
            <a:r>
              <a:rPr lang="en-US" dirty="0"/>
              <a:t>The key challenge is to understand:</a:t>
            </a:r>
          </a:p>
          <a:p>
            <a:r>
              <a:rPr lang="en-US" dirty="0"/>
              <a:t>Which threats occur most frequently? </a:t>
            </a:r>
          </a:p>
          <a:p>
            <a:r>
              <a:rPr lang="en-US" dirty="0"/>
              <a:t>Which threats contribute most to financial impact? </a:t>
            </a:r>
          </a:p>
          <a:p>
            <a:r>
              <a:rPr lang="en-US" dirty="0"/>
              <a:t>How severe are the incidents? </a:t>
            </a:r>
          </a:p>
          <a:p>
            <a:r>
              <a:rPr lang="en-US" dirty="0"/>
              <a:t>Which assets are most affected? </a:t>
            </a:r>
          </a:p>
          <a:p>
            <a:r>
              <a:rPr lang="en-US" dirty="0"/>
              <a:t>Which departments experience the most incidents? </a:t>
            </a:r>
          </a:p>
          <a:p>
            <a:r>
              <a:rPr lang="en-US" dirty="0"/>
              <a:t>How long does it take to resolve incidents?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project aims to transform raw cybersecurity data into an </a:t>
            </a:r>
            <a:r>
              <a:rPr lang="en-US" b="1" dirty="0"/>
              <a:t>interactive analytical solution</a:t>
            </a:r>
            <a:r>
              <a:rPr lang="en-US" dirty="0"/>
              <a:t> that can support security monitoring and data-driven decision-making.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E0CE7F-F20B-1D51-378B-C6702987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91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4FCE-91A2-845F-404D-0E77A30F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8E1D87-8C31-521D-2786-C100522E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386196-1BF9-F42D-A5F9-E07628126B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440195" cy="44786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main objectives of this project are:</a:t>
            </a:r>
          </a:p>
          <a:p>
            <a:r>
              <a:rPr lang="en-US" dirty="0"/>
              <a:t>Analyze cybersecurity incident trends over time </a:t>
            </a:r>
          </a:p>
          <a:p>
            <a:r>
              <a:rPr lang="en-US" dirty="0"/>
              <a:t>Identify major threat types </a:t>
            </a:r>
          </a:p>
          <a:p>
            <a:r>
              <a:rPr lang="en-US" dirty="0"/>
              <a:t>Analyze incidents by severity category </a:t>
            </a:r>
          </a:p>
          <a:p>
            <a:r>
              <a:rPr lang="en-US" dirty="0"/>
              <a:t>Measure financial impact and data breached </a:t>
            </a:r>
          </a:p>
          <a:p>
            <a:r>
              <a:rPr lang="en-US" dirty="0"/>
              <a:t>Analyze incidents across different asset types </a:t>
            </a:r>
          </a:p>
          <a:p>
            <a:r>
              <a:rPr lang="en-US" dirty="0"/>
              <a:t>Examine departmental incident distribution </a:t>
            </a:r>
          </a:p>
          <a:p>
            <a:r>
              <a:rPr lang="en-US" dirty="0"/>
              <a:t>Evaluate incident resolution performance </a:t>
            </a:r>
          </a:p>
          <a:p>
            <a:r>
              <a:rPr lang="en-US" dirty="0"/>
              <a:t>Build an interactive Power BI dashboard </a:t>
            </a:r>
          </a:p>
          <a:p>
            <a:r>
              <a:rPr lang="en-US" dirty="0"/>
              <a:t>Demonstrate practical Power BI, DAX, Power Query and data modeling skills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F5B51-7178-8A62-1E08-DE10CA34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676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FFF12-B66F-F939-2536-82B0D82F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67E7BE-10C7-C19E-5A69-07E68C21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F7A5FD-FF13-D33A-5971-7FE85ED8F6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440195" cy="4478636"/>
          </a:xfrm>
        </p:spPr>
        <p:txBody>
          <a:bodyPr/>
          <a:lstStyle/>
          <a:p>
            <a:r>
              <a:rPr lang="en-US" sz="1200" dirty="0"/>
              <a:t>The project uses a </a:t>
            </a:r>
            <a:r>
              <a:rPr lang="en-US" sz="1200" b="1" dirty="0"/>
              <a:t>Kaggle cybersecurity incident dataset</a:t>
            </a:r>
            <a:r>
              <a:rPr lang="en-US" sz="1200" dirty="0"/>
              <a:t> containing information related to security incidents, threats, assets, employees and their impact.</a:t>
            </a:r>
          </a:p>
          <a:p>
            <a:r>
              <a:rPr lang="en-US" sz="1200" dirty="0"/>
              <a:t>The dataset contains approximately </a:t>
            </a:r>
            <a:r>
              <a:rPr lang="en-US" sz="1200" b="1" dirty="0"/>
              <a:t>5,000 incident records</a:t>
            </a:r>
            <a:r>
              <a:rPr lang="en-US" sz="1200" dirty="0"/>
              <a:t>.</a:t>
            </a:r>
          </a:p>
          <a:p>
            <a:r>
              <a:rPr lang="en-US" sz="1200" b="1" dirty="0"/>
              <a:t>Major data areas include:</a:t>
            </a:r>
          </a:p>
          <a:p>
            <a:r>
              <a:rPr lang="en-US" sz="1200" b="1" dirty="0"/>
              <a:t>Incident Information</a:t>
            </a:r>
            <a:endParaRPr lang="en-US" sz="1200" dirty="0"/>
          </a:p>
          <a:p>
            <a:r>
              <a:rPr lang="en-US" sz="1200" dirty="0"/>
              <a:t>Incident ID, Detection Date &amp; Time, Incident Status, Financial Impact, Data Breached, Time to Resolve </a:t>
            </a:r>
          </a:p>
          <a:p>
            <a:r>
              <a:rPr lang="en-US" sz="1200" b="1" dirty="0"/>
              <a:t>Threat Information</a:t>
            </a:r>
            <a:endParaRPr lang="en-US" sz="1200" dirty="0"/>
          </a:p>
          <a:p>
            <a:r>
              <a:rPr lang="en-US" sz="1200" dirty="0"/>
              <a:t>Threat Type, Threat ID, Severity, Vulnerability information </a:t>
            </a:r>
          </a:p>
          <a:p>
            <a:r>
              <a:rPr lang="en-US" sz="1200" b="1" dirty="0"/>
              <a:t>Asset Information</a:t>
            </a:r>
            <a:endParaRPr lang="en-US" sz="1200" dirty="0"/>
          </a:p>
          <a:p>
            <a:r>
              <a:rPr lang="en-US" sz="1200" dirty="0"/>
              <a:t>Asset ID, Asset Type, Vulnerability information </a:t>
            </a:r>
          </a:p>
          <a:p>
            <a:r>
              <a:rPr lang="en-US" sz="1200" b="1" dirty="0"/>
              <a:t>Employee / Organization Information</a:t>
            </a:r>
            <a:endParaRPr lang="en-US" sz="1200" dirty="0"/>
          </a:p>
          <a:p>
            <a:r>
              <a:rPr lang="en-US" sz="1200" dirty="0"/>
              <a:t>Employee ID, Department, Security Training information </a:t>
            </a:r>
          </a:p>
          <a:p>
            <a:r>
              <a:rPr lang="en-US" sz="1200" b="1" dirty="0"/>
              <a:t>Source:</a:t>
            </a:r>
            <a:r>
              <a:rPr lang="en-US" sz="1200" dirty="0"/>
              <a:t> Kaggle</a:t>
            </a:r>
          </a:p>
          <a:p>
            <a:r>
              <a:rPr lang="en-US" sz="1200" i="1" dirty="0"/>
              <a:t>Replace "Kaggle cybersecurity incident dataset" with the exact Kaggle dataset name in your final PPT.</a:t>
            </a:r>
            <a:endParaRPr lang="en-US" sz="1200" dirty="0"/>
          </a:p>
          <a:p>
            <a:endParaRPr lang="en-US" sz="1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D7B55-4BA5-67F4-7559-70ABF00C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48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FE80-CA40-3F3B-290C-EBCD446C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6FBBCB-575B-5106-2BC4-12D7A1C2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&amp; Quality Check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FE8D70-56CB-6EFB-C033-A35BF7578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4"/>
            <a:ext cx="7440195" cy="4910587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Before building the dashboard, I performed an initial data quality assessment.</a:t>
            </a:r>
          </a:p>
          <a:p>
            <a:pPr marL="0" indent="0">
              <a:buNone/>
            </a:pPr>
            <a:r>
              <a:rPr lang="en-US" sz="1400" b="1" dirty="0"/>
              <a:t>Checks performed:</a:t>
            </a:r>
          </a:p>
          <a:p>
            <a:r>
              <a:rPr lang="en-US" sz="1200" dirty="0"/>
              <a:t>Reviewed dataset structure and columns </a:t>
            </a:r>
          </a:p>
          <a:p>
            <a:r>
              <a:rPr lang="en-US" sz="1200" dirty="0"/>
              <a:t>Checked for missing/null values </a:t>
            </a:r>
          </a:p>
          <a:p>
            <a:r>
              <a:rPr lang="en-US" sz="1200" dirty="0"/>
              <a:t>Verified data types </a:t>
            </a:r>
          </a:p>
          <a:p>
            <a:r>
              <a:rPr lang="en-US" sz="1200" dirty="0"/>
              <a:t>Checked for duplicate records </a:t>
            </a:r>
          </a:p>
          <a:p>
            <a:r>
              <a:rPr lang="en-US" sz="1200" dirty="0"/>
              <a:t>Reviewed categorical values </a:t>
            </a:r>
          </a:p>
          <a:p>
            <a:r>
              <a:rPr lang="en-US" sz="1200" dirty="0"/>
              <a:t>Examined relationships between tables </a:t>
            </a:r>
          </a:p>
          <a:p>
            <a:r>
              <a:rPr lang="en-US" sz="1200" dirty="0"/>
              <a:t>Identified columns useful for business analysis </a:t>
            </a:r>
          </a:p>
          <a:p>
            <a:r>
              <a:rPr lang="en-US" sz="1200" b="1" dirty="0"/>
              <a:t>Data Quality Result</a:t>
            </a:r>
          </a:p>
          <a:p>
            <a:r>
              <a:rPr lang="en-US" sz="1200" b="1" dirty="0"/>
              <a:t>5,000 incident records retained</a:t>
            </a:r>
            <a:r>
              <a:rPr lang="en-US" sz="1200" dirty="0"/>
              <a:t> </a:t>
            </a:r>
          </a:p>
          <a:p>
            <a:r>
              <a:rPr lang="en-US" sz="1200" dirty="0"/>
              <a:t>No null values requiring removal </a:t>
            </a:r>
          </a:p>
          <a:p>
            <a:r>
              <a:rPr lang="en-US" sz="1200" dirty="0"/>
              <a:t>No incorrect data types identified </a:t>
            </a:r>
          </a:p>
          <a:p>
            <a:r>
              <a:rPr lang="en-US" sz="1200" dirty="0"/>
              <a:t>Duplicate validation performed using Incident ID </a:t>
            </a:r>
          </a:p>
          <a:p>
            <a:r>
              <a:rPr lang="en-US" sz="1200" dirty="0"/>
              <a:t>The data was suitable for further transformation and modeling.</a:t>
            </a:r>
          </a:p>
          <a:p>
            <a:endParaRPr lang="en-US" sz="1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D3EE0F-FE27-B07B-ED32-6917B97B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29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2606-CF70-EA66-F11D-7CE7BFEC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FB8F65-F9B1-564E-2206-6DF779BF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Preparation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93EC41-6425-1EB4-C6C8-5135D0967A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4"/>
            <a:ext cx="7440195" cy="5054815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Several Power Query transformations were performed to prepare the dataset for analysis.</a:t>
            </a:r>
          </a:p>
          <a:p>
            <a:pPr marL="0" indent="0">
              <a:buNone/>
            </a:pPr>
            <a:r>
              <a:rPr lang="en-US" sz="1400" b="1" dirty="0"/>
              <a:t>Cleaning</a:t>
            </a:r>
          </a:p>
          <a:p>
            <a:r>
              <a:rPr lang="en-US" sz="1400" dirty="0"/>
              <a:t>Renamed columns using readable business-friendly names </a:t>
            </a:r>
          </a:p>
          <a:p>
            <a:r>
              <a:rPr lang="en-US" sz="1400" dirty="0"/>
              <a:t>Verified and standardized data types </a:t>
            </a:r>
          </a:p>
          <a:p>
            <a:r>
              <a:rPr lang="en-US" sz="1400" dirty="0"/>
              <a:t>Checked and handled duplicate records </a:t>
            </a:r>
          </a:p>
          <a:p>
            <a:r>
              <a:rPr lang="en-US" sz="1400" dirty="0"/>
              <a:t>Validated categorical values </a:t>
            </a:r>
          </a:p>
          <a:p>
            <a:pPr marL="0" indent="0">
              <a:buNone/>
            </a:pPr>
            <a:r>
              <a:rPr lang="en-US" sz="1400" b="1" dirty="0"/>
              <a:t>Feature Creation</a:t>
            </a:r>
          </a:p>
          <a:p>
            <a:r>
              <a:rPr lang="en-US" sz="1400" dirty="0"/>
              <a:t>Created additional analytical columns:</a:t>
            </a:r>
          </a:p>
          <a:p>
            <a:r>
              <a:rPr lang="en-US" sz="1400" b="1" dirty="0"/>
              <a:t>Detection Date</a:t>
            </a:r>
            <a:r>
              <a:rPr lang="en-US" sz="1400" dirty="0"/>
              <a:t> </a:t>
            </a:r>
          </a:p>
          <a:p>
            <a:r>
              <a:rPr lang="en-US" sz="1400" b="1" dirty="0"/>
              <a:t>Detection Time</a:t>
            </a:r>
            <a:r>
              <a:rPr lang="en-US" sz="1400" dirty="0"/>
              <a:t> </a:t>
            </a:r>
          </a:p>
          <a:p>
            <a:r>
              <a:rPr lang="en-US" sz="1400" b="1" dirty="0"/>
              <a:t>Threat Severity Category</a:t>
            </a:r>
            <a:r>
              <a:rPr lang="en-US" sz="1400" dirty="0"/>
              <a:t> </a:t>
            </a:r>
          </a:p>
          <a:p>
            <a:r>
              <a:rPr lang="en-US" sz="1400" b="1" dirty="0"/>
              <a:t>Vulnerability Score Category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b="1" dirty="0"/>
              <a:t>Objective</a:t>
            </a:r>
          </a:p>
          <a:p>
            <a:r>
              <a:rPr lang="en-US" sz="1400" dirty="0"/>
              <a:t>The goal was to keep the dataset clean while creating only the additional fields required for meaningful dashboard analysis.</a:t>
            </a:r>
          </a:p>
          <a:p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5D382-3BE0-AFDE-6FC8-1C24B3C2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AD94-40FE-8727-66B6-789BEF2B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01608F-D157-2C9A-F3D2-ACE695D4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Query Transformations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DC0D23E-C773-7471-2FD7-5565F81D54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4"/>
            <a:ext cx="7440195" cy="505481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Power Query Workflow</a:t>
            </a:r>
          </a:p>
          <a:p>
            <a:pPr marL="0" indent="0">
              <a:buNone/>
            </a:pPr>
            <a:r>
              <a:rPr lang="en-IN" dirty="0"/>
              <a:t>The data preparation process followed this workflow:</a:t>
            </a:r>
          </a:p>
          <a:p>
            <a:r>
              <a:rPr lang="en-IN" b="1" dirty="0"/>
              <a:t>Import → Inspect → Clean → Transform → Validate → Load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Power Query was used for:</a:t>
            </a:r>
          </a:p>
          <a:p>
            <a:r>
              <a:rPr lang="en-IN" dirty="0"/>
              <a:t>Column renaming </a:t>
            </a:r>
          </a:p>
          <a:p>
            <a:r>
              <a:rPr lang="en-IN" dirty="0"/>
              <a:t>Data type validation </a:t>
            </a:r>
          </a:p>
          <a:p>
            <a:r>
              <a:rPr lang="en-IN" dirty="0"/>
              <a:t>Duplicate checking </a:t>
            </a:r>
          </a:p>
          <a:p>
            <a:r>
              <a:rPr lang="en-IN" dirty="0"/>
              <a:t>Date &amp; time separation </a:t>
            </a:r>
          </a:p>
          <a:p>
            <a:r>
              <a:rPr lang="en-IN" dirty="0"/>
              <a:t>Conditional/category creation </a:t>
            </a:r>
          </a:p>
          <a:p>
            <a:r>
              <a:rPr lang="en-IN" dirty="0"/>
              <a:t>Data quality validation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32670E-9F89-AEEC-8766-F5149518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04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E6C0-D7DD-E114-6C96-3E1DE2AF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88FB8B-CA15-601C-925B-C5F33AB3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Modeling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D1C5BF-17F1-95FC-0440-53AAC283D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407381"/>
            <a:ext cx="8707452" cy="5272818"/>
          </a:xfrm>
        </p:spPr>
        <p:txBody>
          <a:bodyPr/>
          <a:lstStyle/>
          <a:p>
            <a:pPr marL="0" indent="0">
              <a:buNone/>
            </a:pPr>
            <a:r>
              <a:rPr lang="en-US" sz="1200" b="1" dirty="0"/>
              <a:t>Star Schema</a:t>
            </a:r>
          </a:p>
          <a:p>
            <a:pPr marL="0" indent="0">
              <a:buNone/>
            </a:pPr>
            <a:r>
              <a:rPr lang="en-US" sz="1200" dirty="0"/>
              <a:t>The Power BI model was designed using a </a:t>
            </a:r>
            <a:r>
              <a:rPr lang="en-US" sz="1200" b="1" dirty="0"/>
              <a:t>Star Schema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b="1" dirty="0"/>
              <a:t>Fact Table</a:t>
            </a:r>
          </a:p>
          <a:p>
            <a:r>
              <a:rPr lang="en-US" sz="1200" b="1" dirty="0" err="1"/>
              <a:t>Fact_Incidents</a:t>
            </a:r>
            <a:endParaRPr lang="en-US" sz="1200" dirty="0"/>
          </a:p>
          <a:p>
            <a:r>
              <a:rPr lang="en-US" sz="1200" dirty="0"/>
              <a:t>Contains incident-level transactional data such as:</a:t>
            </a:r>
          </a:p>
          <a:p>
            <a:r>
              <a:rPr lang="en-US" sz="1200" dirty="0"/>
              <a:t>Financial Impact </a:t>
            </a:r>
          </a:p>
          <a:p>
            <a:r>
              <a:rPr lang="en-US" sz="1200" dirty="0"/>
              <a:t>Data Breached </a:t>
            </a:r>
          </a:p>
          <a:p>
            <a:r>
              <a:rPr lang="en-US" sz="1200" dirty="0"/>
              <a:t>Resolution Time </a:t>
            </a:r>
          </a:p>
          <a:p>
            <a:r>
              <a:rPr lang="en-US" sz="1200" dirty="0"/>
              <a:t>Detection Date </a:t>
            </a:r>
          </a:p>
          <a:p>
            <a:r>
              <a:rPr lang="en-US" sz="1200" dirty="0"/>
              <a:t>Detection Time </a:t>
            </a:r>
          </a:p>
          <a:p>
            <a:pPr marL="0" indent="0">
              <a:buNone/>
            </a:pPr>
            <a:r>
              <a:rPr lang="en-US" sz="1200" b="1" dirty="0"/>
              <a:t>Dimension Tables</a:t>
            </a:r>
          </a:p>
          <a:p>
            <a:r>
              <a:rPr lang="en-US" sz="1200" b="1" dirty="0" err="1"/>
              <a:t>Dim_Threats</a:t>
            </a:r>
            <a:r>
              <a:rPr lang="en-US" sz="1200" dirty="0"/>
              <a:t> </a:t>
            </a:r>
          </a:p>
          <a:p>
            <a:r>
              <a:rPr lang="en-US" sz="1200" b="1" dirty="0" err="1"/>
              <a:t>Dim_Assets</a:t>
            </a:r>
            <a:r>
              <a:rPr lang="en-US" sz="1200" dirty="0"/>
              <a:t> </a:t>
            </a:r>
          </a:p>
          <a:p>
            <a:r>
              <a:rPr lang="en-US" sz="1200" b="1" dirty="0" err="1"/>
              <a:t>Dim_Employees</a:t>
            </a:r>
            <a:r>
              <a:rPr lang="en-US" sz="1200" dirty="0"/>
              <a:t> </a:t>
            </a:r>
          </a:p>
          <a:p>
            <a:r>
              <a:rPr lang="en-US" sz="1200" b="1" dirty="0" err="1"/>
              <a:t>Dim_Date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b="1" dirty="0"/>
              <a:t>Relationships</a:t>
            </a:r>
          </a:p>
          <a:p>
            <a:r>
              <a:rPr lang="en-US" sz="1200" dirty="0"/>
              <a:t>The dimension tables connect to the central fact table using </a:t>
            </a:r>
            <a:r>
              <a:rPr lang="en-US" sz="1200" b="1" dirty="0"/>
              <a:t>one-to-many relationships</a:t>
            </a:r>
            <a:r>
              <a:rPr lang="en-US" sz="1200" dirty="0"/>
              <a:t> with single-direction filtering.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FE15E-04EC-33DB-B7FE-3E8691F9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67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05B2-6C4C-9BFD-1606-A7B04DA0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74CF2F-D57B-3FEF-7B6B-DF6A528B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Dimension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446118-AC56-814C-93DB-29E03E5083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77725"/>
            <a:ext cx="8015689" cy="5002474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Date Dimension &amp; Time Analysis</a:t>
            </a:r>
          </a:p>
          <a:p>
            <a:pPr marL="0" indent="0">
              <a:buNone/>
            </a:pPr>
            <a:r>
              <a:rPr lang="en-US" sz="1400" dirty="0"/>
              <a:t>A dedicated </a:t>
            </a:r>
            <a:r>
              <a:rPr lang="en-US" sz="1400" dirty="0" err="1"/>
              <a:t>Dim_Date</a:t>
            </a:r>
            <a:r>
              <a:rPr lang="en-US" sz="1400" dirty="0"/>
              <a:t> table was created using DAX.</a:t>
            </a:r>
          </a:p>
          <a:p>
            <a:pPr marL="0" indent="0">
              <a:buNone/>
            </a:pPr>
            <a:r>
              <a:rPr lang="en-US" sz="1400" dirty="0"/>
              <a:t>The Date Dimension contains:</a:t>
            </a:r>
          </a:p>
          <a:p>
            <a:r>
              <a:rPr lang="en-US" sz="1400" dirty="0"/>
              <a:t>Date, Year, Quarter, Month Number, Month Name, Month-Year, Week Number, Day, Day Name, Day of Week,  </a:t>
            </a:r>
          </a:p>
          <a:p>
            <a:pPr marL="0" indent="0">
              <a:buNone/>
            </a:pPr>
            <a:r>
              <a:rPr lang="en-US" sz="1400" dirty="0"/>
              <a:t>	Weekend indicator 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Benefits</a:t>
            </a:r>
          </a:p>
          <a:p>
            <a:r>
              <a:rPr lang="en-US" sz="1400" dirty="0"/>
              <a:t>Enables consistent time-based analysis </a:t>
            </a:r>
          </a:p>
          <a:p>
            <a:r>
              <a:rPr lang="en-US" sz="1400" dirty="0"/>
              <a:t>Supports monthly and yearly reporting </a:t>
            </a:r>
          </a:p>
          <a:p>
            <a:r>
              <a:rPr lang="en-US" sz="1400" dirty="0"/>
              <a:t>Avoids repeating date attributes in the fact table </a:t>
            </a:r>
          </a:p>
          <a:p>
            <a:r>
              <a:rPr lang="en-US" sz="1400" dirty="0"/>
              <a:t>Improves model organization </a:t>
            </a:r>
          </a:p>
          <a:p>
            <a:r>
              <a:rPr lang="en-US" sz="1400" dirty="0"/>
              <a:t>Supports Power BI time intelligence </a:t>
            </a:r>
          </a:p>
          <a:p>
            <a:r>
              <a:rPr lang="en-US" sz="1400" dirty="0"/>
              <a:t>The Date table was also </a:t>
            </a:r>
            <a:r>
              <a:rPr lang="en-US" sz="1400" b="1" dirty="0"/>
              <a:t>marked as a Date Table</a:t>
            </a:r>
            <a:r>
              <a:rPr lang="en-US" sz="1400" dirty="0"/>
              <a:t> and connected to the incident fact table.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F66229-FAEB-4FD4-7AC4-C20A107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12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F2AF-367E-3CB1-C7A9-23B7D5C9A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30C193-4F0E-8D6B-8A66-C3687CA8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DAX Measures &amp; KPI Development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717373-30E4-0E86-0BAE-998B4ECF7D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542553"/>
            <a:ext cx="8015689" cy="513764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DAX Measures</a:t>
            </a:r>
          </a:p>
          <a:p>
            <a:pPr marL="0" indent="0">
              <a:buNone/>
            </a:pPr>
            <a:r>
              <a:rPr lang="en-US" dirty="0"/>
              <a:t>Reusable DAX measures were created instead of relying only on visual-level calculations.</a:t>
            </a:r>
          </a:p>
          <a:p>
            <a:pPr marL="0" indent="0">
              <a:buNone/>
            </a:pPr>
            <a:r>
              <a:rPr lang="en-US" b="1" dirty="0"/>
              <a:t>Key Measures</a:t>
            </a:r>
          </a:p>
          <a:p>
            <a:r>
              <a:rPr lang="en-US" dirty="0"/>
              <a:t>Total Incidents </a:t>
            </a:r>
          </a:p>
          <a:p>
            <a:r>
              <a:rPr lang="en-US" dirty="0"/>
              <a:t>High Severity Incidents </a:t>
            </a:r>
          </a:p>
          <a:p>
            <a:r>
              <a:rPr lang="en-US" dirty="0"/>
              <a:t>Total Financial Impact </a:t>
            </a:r>
          </a:p>
          <a:p>
            <a:r>
              <a:rPr lang="en-US" dirty="0"/>
              <a:t>Total Data Breached </a:t>
            </a:r>
          </a:p>
          <a:p>
            <a:r>
              <a:rPr lang="en-US" dirty="0"/>
              <a:t>Average Resolution Time </a:t>
            </a:r>
          </a:p>
          <a:p>
            <a:r>
              <a:rPr lang="en-US" dirty="0"/>
              <a:t>Total Assets </a:t>
            </a:r>
          </a:p>
          <a:p>
            <a:r>
              <a:rPr lang="en-US" dirty="0"/>
              <a:t>Total Employees </a:t>
            </a:r>
          </a:p>
          <a:p>
            <a:r>
              <a:rPr lang="en-US" dirty="0"/>
              <a:t>Total Threat Types </a:t>
            </a:r>
          </a:p>
          <a:p>
            <a:r>
              <a:rPr lang="en-US" dirty="0"/>
              <a:t>Average Financial Impact per Incident </a:t>
            </a:r>
          </a:p>
          <a:p>
            <a:r>
              <a:rPr lang="en-US" dirty="0"/>
              <a:t>Average Data Breached per Incident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5A9CB-F6EA-83FE-80E0-B0D438DA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29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97D7-C820-8F5C-5720-C005B794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E6AFD1-D090-B70E-C8C5-64754160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Design &amp; Navigation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2B81FF-02BC-5D87-D356-B4344B9DB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184744"/>
            <a:ext cx="8015689" cy="549545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Interactive Power BI Solution</a:t>
            </a:r>
          </a:p>
          <a:p>
            <a:r>
              <a:rPr lang="en-US" sz="1400" dirty="0"/>
              <a:t>The final report contains a </a:t>
            </a:r>
            <a:r>
              <a:rPr lang="en-US" sz="1400" b="1" dirty="0"/>
              <a:t>Home Page + 3 analytical dashboards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b="1" dirty="0"/>
              <a:t>Home Page</a:t>
            </a:r>
          </a:p>
          <a:p>
            <a:r>
              <a:rPr lang="en-US" sz="1200" dirty="0"/>
              <a:t>Provides navigation to:</a:t>
            </a:r>
          </a:p>
          <a:p>
            <a:r>
              <a:rPr lang="en-US" sz="1200" dirty="0"/>
              <a:t>Executive Overview </a:t>
            </a:r>
          </a:p>
          <a:p>
            <a:r>
              <a:rPr lang="en-US" sz="1200" dirty="0"/>
              <a:t>Threat Analysis </a:t>
            </a:r>
          </a:p>
          <a:p>
            <a:r>
              <a:rPr lang="en-US" sz="1200" dirty="0"/>
              <a:t>Asset &amp; Employee Analysis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/>
              <a:t>Interactive Features</a:t>
            </a:r>
          </a:p>
          <a:p>
            <a:r>
              <a:rPr lang="en-US" sz="1200" dirty="0"/>
              <a:t>Page navigation buttons </a:t>
            </a:r>
          </a:p>
          <a:p>
            <a:r>
              <a:rPr lang="en-US" sz="1200" dirty="0"/>
              <a:t>Slicers </a:t>
            </a:r>
          </a:p>
          <a:p>
            <a:r>
              <a:rPr lang="en-US" sz="1200" dirty="0"/>
              <a:t>Cross-filtering </a:t>
            </a:r>
          </a:p>
          <a:p>
            <a:r>
              <a:rPr lang="en-US" sz="1200" dirty="0"/>
              <a:t>Interactive visuals </a:t>
            </a:r>
          </a:p>
          <a:p>
            <a:r>
              <a:rPr lang="en-US" sz="1200" dirty="0"/>
              <a:t>KPI cards </a:t>
            </a:r>
          </a:p>
          <a:p>
            <a:r>
              <a:rPr lang="en-US" sz="1200" dirty="0"/>
              <a:t>Conditional formatting </a:t>
            </a:r>
          </a:p>
          <a:p>
            <a:r>
              <a:rPr lang="en-US" sz="1200" dirty="0"/>
              <a:t>Multiple chart types </a:t>
            </a:r>
          </a:p>
          <a:p>
            <a:pPr marL="0" indent="0">
              <a:buNone/>
            </a:pPr>
            <a:r>
              <a:rPr lang="en-US" dirty="0"/>
              <a:t>The report was designed with a consistent </a:t>
            </a:r>
            <a:r>
              <a:rPr lang="en-US" b="1" dirty="0"/>
              <a:t>cybersecurity-themed visual style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18E66E-EC12-D0FB-D965-81FDA2CA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45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B3B3-5276-46BE-EE2E-9C13CF7C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FC0F6C-1CEA-D1B7-8C36-2162B9A7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1: Executive Overview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2BDF9D-46FC-1BAB-8E27-FE0C8E4C3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399430"/>
            <a:ext cx="8015689" cy="528076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Executive Overview</a:t>
            </a:r>
          </a:p>
          <a:p>
            <a:r>
              <a:rPr lang="en-US" sz="1400" dirty="0"/>
              <a:t>The first dashboard provides a high-level view of the cybersecurity environment.</a:t>
            </a:r>
          </a:p>
          <a:p>
            <a:pPr marL="0" indent="0">
              <a:buNone/>
            </a:pPr>
            <a:r>
              <a:rPr lang="en-US" b="1" dirty="0"/>
              <a:t>Main Components</a:t>
            </a:r>
          </a:p>
          <a:p>
            <a:r>
              <a:rPr lang="en-US" sz="1200" dirty="0"/>
              <a:t>Total Incidents KPI </a:t>
            </a:r>
          </a:p>
          <a:p>
            <a:r>
              <a:rPr lang="en-US" sz="1200" dirty="0"/>
              <a:t>High Severity Incidents KPI </a:t>
            </a:r>
          </a:p>
          <a:p>
            <a:r>
              <a:rPr lang="en-US" sz="1200" dirty="0"/>
              <a:t>Financial Impact KPI </a:t>
            </a:r>
          </a:p>
          <a:p>
            <a:r>
              <a:rPr lang="en-US" sz="1200" dirty="0"/>
              <a:t>Data Breached KPI </a:t>
            </a:r>
          </a:p>
          <a:p>
            <a:r>
              <a:rPr lang="en-US" sz="1200" dirty="0"/>
              <a:t>Incident Trend Over Time </a:t>
            </a:r>
          </a:p>
          <a:p>
            <a:r>
              <a:rPr lang="en-US" sz="1200" dirty="0"/>
              <a:t>Incidents by Threat Type </a:t>
            </a:r>
          </a:p>
          <a:p>
            <a:r>
              <a:rPr lang="en-US" sz="1200" dirty="0"/>
              <a:t>Incident Status Distribution </a:t>
            </a:r>
          </a:p>
          <a:p>
            <a:r>
              <a:rPr lang="en-US" sz="1200" dirty="0"/>
              <a:t>Incidents by Department </a:t>
            </a:r>
          </a:p>
          <a:p>
            <a:pPr marL="0" indent="0">
              <a:buNone/>
            </a:pPr>
            <a:r>
              <a:rPr lang="en-US" b="1" dirty="0"/>
              <a:t>Filters</a:t>
            </a:r>
          </a:p>
          <a:p>
            <a:r>
              <a:rPr lang="en-US" sz="1200" dirty="0"/>
              <a:t>Year </a:t>
            </a:r>
          </a:p>
          <a:p>
            <a:r>
              <a:rPr lang="en-US" sz="1200" dirty="0"/>
              <a:t>Severity Category </a:t>
            </a:r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sz="1400" dirty="0"/>
              <a:t>Provides an executive-level summary of incident volume, impact and distribution.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6AE4BB-2F6C-3B9A-7A84-6635CADC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90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6C70-7E0B-ED40-EAEA-722D6FA9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F42A2D-6603-5076-1C5D-AA6C9892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2: Threat Analysis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C1BE6B-C9B2-DB81-46AF-B1B45C6AE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264258"/>
            <a:ext cx="8015689" cy="5415942"/>
          </a:xfrm>
        </p:spPr>
        <p:txBody>
          <a:bodyPr/>
          <a:lstStyle/>
          <a:p>
            <a:pPr marL="0" indent="0">
              <a:buNone/>
            </a:pPr>
            <a:r>
              <a:rPr lang="en-US" sz="1100" b="1" dirty="0"/>
              <a:t>Threat Analysis</a:t>
            </a:r>
          </a:p>
          <a:p>
            <a:r>
              <a:rPr lang="en-US" sz="800" dirty="0"/>
              <a:t>The second dashboard focuses specifically on threat patterns and their impact.</a:t>
            </a:r>
          </a:p>
          <a:p>
            <a:pPr marL="0" indent="0">
              <a:buNone/>
            </a:pPr>
            <a:r>
              <a:rPr lang="en-US" sz="1100" b="1" dirty="0"/>
              <a:t>Main Components</a:t>
            </a:r>
          </a:p>
          <a:p>
            <a:r>
              <a:rPr lang="en-US" sz="800" dirty="0"/>
              <a:t>Total Threat Types </a:t>
            </a:r>
          </a:p>
          <a:p>
            <a:r>
              <a:rPr lang="en-US" sz="800" dirty="0"/>
              <a:t>High Severity Incidents </a:t>
            </a:r>
          </a:p>
          <a:p>
            <a:r>
              <a:rPr lang="en-US" sz="800" dirty="0"/>
              <a:t>Average Financial Impact </a:t>
            </a:r>
          </a:p>
          <a:p>
            <a:r>
              <a:rPr lang="en-US" sz="800" dirty="0"/>
              <a:t>Average Data Breached </a:t>
            </a:r>
          </a:p>
          <a:p>
            <a:r>
              <a:rPr lang="en-US" sz="800" dirty="0"/>
              <a:t>Threat Ranking Over Time </a:t>
            </a:r>
          </a:p>
          <a:p>
            <a:r>
              <a:rPr lang="en-US" sz="800" dirty="0"/>
              <a:t>Financial Impact by Threat Type </a:t>
            </a:r>
          </a:p>
          <a:p>
            <a:r>
              <a:rPr lang="en-US" sz="800" dirty="0"/>
              <a:t>Threat Severity Analysis </a:t>
            </a:r>
          </a:p>
          <a:p>
            <a:r>
              <a:rPr lang="en-US" sz="800" dirty="0"/>
              <a:t>Financial Impact Breakdown </a:t>
            </a:r>
          </a:p>
          <a:p>
            <a:pPr marL="0" indent="0">
              <a:buNone/>
            </a:pPr>
            <a:r>
              <a:rPr lang="en-US" sz="1100" b="1" dirty="0"/>
              <a:t>Power BI Visuals Used</a:t>
            </a:r>
          </a:p>
          <a:p>
            <a:r>
              <a:rPr lang="en-US" sz="800" b="1" dirty="0"/>
              <a:t>Ribbon Chart</a:t>
            </a:r>
            <a:r>
              <a:rPr lang="en-US" sz="800" dirty="0"/>
              <a:t> </a:t>
            </a:r>
          </a:p>
          <a:p>
            <a:r>
              <a:rPr lang="en-US" sz="800" b="1" dirty="0"/>
              <a:t>Waterfall Chart</a:t>
            </a:r>
            <a:r>
              <a:rPr lang="en-US" sz="800" dirty="0"/>
              <a:t> </a:t>
            </a:r>
          </a:p>
          <a:p>
            <a:r>
              <a:rPr lang="en-US" sz="800" b="1" dirty="0"/>
              <a:t>Matrix</a:t>
            </a:r>
            <a:r>
              <a:rPr lang="en-US" sz="800" dirty="0"/>
              <a:t> </a:t>
            </a:r>
          </a:p>
          <a:p>
            <a:r>
              <a:rPr lang="en-US" sz="800" b="1" dirty="0"/>
              <a:t>Decomposition Tree</a:t>
            </a:r>
            <a:r>
              <a:rPr lang="en-US" sz="800" dirty="0"/>
              <a:t> </a:t>
            </a:r>
          </a:p>
          <a:p>
            <a:pPr marL="0" indent="0">
              <a:buNone/>
            </a:pPr>
            <a:r>
              <a:rPr lang="en-US" sz="1100" b="1" dirty="0"/>
              <a:t>Filters</a:t>
            </a:r>
          </a:p>
          <a:p>
            <a:r>
              <a:rPr lang="en-US" sz="800" dirty="0"/>
              <a:t>Threat Type </a:t>
            </a:r>
          </a:p>
          <a:p>
            <a:r>
              <a:rPr lang="en-US" sz="800" dirty="0"/>
              <a:t>Severity Category </a:t>
            </a:r>
          </a:p>
          <a:p>
            <a:pPr marL="0" indent="0">
              <a:buNone/>
            </a:pPr>
            <a:r>
              <a:rPr lang="en-US" sz="1100" b="1" dirty="0"/>
              <a:t>Purpose</a:t>
            </a:r>
          </a:p>
          <a:p>
            <a:r>
              <a:rPr lang="en-US" sz="800" dirty="0"/>
              <a:t>Enables deeper analysis of threat frequency, severity and financial impact.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9F54BE-1F56-0055-B496-A8BA3C80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16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8B47-40F4-5D94-1A15-C6151320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BD9CD8-E0BF-2534-E06D-03A1D5F3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3: Asset &amp; Employee Analysis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FC7176-3A93-495E-5835-96C07A6236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264258"/>
            <a:ext cx="8015689" cy="5415942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The third dashboard focuses on the organizational and asset-level distribution of cybersecurity incidents.</a:t>
            </a:r>
          </a:p>
          <a:p>
            <a:pPr marL="0" indent="0">
              <a:buNone/>
            </a:pPr>
            <a:r>
              <a:rPr lang="en-US" sz="1200" b="1" dirty="0"/>
              <a:t>Main Components</a:t>
            </a:r>
          </a:p>
          <a:p>
            <a:r>
              <a:rPr lang="en-US" sz="800" dirty="0"/>
              <a:t>Total Assets </a:t>
            </a:r>
          </a:p>
          <a:p>
            <a:r>
              <a:rPr lang="en-US" sz="800" dirty="0"/>
              <a:t>Total Employees </a:t>
            </a:r>
          </a:p>
          <a:p>
            <a:r>
              <a:rPr lang="en-US" sz="800" dirty="0"/>
              <a:t>Total Incidents </a:t>
            </a:r>
          </a:p>
          <a:p>
            <a:r>
              <a:rPr lang="en-US" sz="800" dirty="0"/>
              <a:t>Average Resolution Time </a:t>
            </a:r>
          </a:p>
          <a:p>
            <a:r>
              <a:rPr lang="en-US" sz="800" dirty="0"/>
              <a:t>Incidents by Asset Type </a:t>
            </a:r>
          </a:p>
          <a:p>
            <a:r>
              <a:rPr lang="en-US" sz="800" dirty="0"/>
              <a:t>Assets by Vulnerability Risk </a:t>
            </a:r>
          </a:p>
          <a:p>
            <a:r>
              <a:rPr lang="en-US" sz="800" dirty="0"/>
              <a:t>Incident Status </a:t>
            </a:r>
          </a:p>
          <a:p>
            <a:r>
              <a:rPr lang="en-US" sz="800" dirty="0"/>
              <a:t>Average Incident Resolution Time </a:t>
            </a:r>
          </a:p>
          <a:p>
            <a:pPr marL="0" indent="0">
              <a:buNone/>
            </a:pPr>
            <a:r>
              <a:rPr lang="en-US" sz="1200" b="1" dirty="0"/>
              <a:t>Visuals Used</a:t>
            </a:r>
          </a:p>
          <a:p>
            <a:r>
              <a:rPr lang="en-US" sz="800" dirty="0"/>
              <a:t>Bar Chart </a:t>
            </a:r>
          </a:p>
          <a:p>
            <a:r>
              <a:rPr lang="en-US" sz="800" dirty="0"/>
              <a:t>Pie/Donut-style visualization </a:t>
            </a:r>
          </a:p>
          <a:p>
            <a:r>
              <a:rPr lang="en-US" sz="800" dirty="0"/>
              <a:t>Funnel Chart </a:t>
            </a:r>
          </a:p>
          <a:p>
            <a:r>
              <a:rPr lang="en-US" sz="800" dirty="0"/>
              <a:t>Gauge Chart </a:t>
            </a:r>
          </a:p>
          <a:p>
            <a:pPr marL="0" indent="0">
              <a:buNone/>
            </a:pPr>
            <a:r>
              <a:rPr lang="en-US" sz="1200" b="1" dirty="0"/>
              <a:t>Filters</a:t>
            </a:r>
          </a:p>
          <a:p>
            <a:r>
              <a:rPr lang="en-US" sz="800" dirty="0"/>
              <a:t>Department </a:t>
            </a:r>
          </a:p>
          <a:p>
            <a:r>
              <a:rPr lang="en-US" sz="800" dirty="0"/>
              <a:t>Asset Type </a:t>
            </a:r>
          </a:p>
          <a:p>
            <a:pPr marL="0" indent="0">
              <a:buNone/>
            </a:pPr>
            <a:r>
              <a:rPr lang="en-US" sz="1200" b="1" dirty="0"/>
              <a:t>Purpose</a:t>
            </a:r>
          </a:p>
          <a:p>
            <a:r>
              <a:rPr lang="en-US" sz="800" dirty="0"/>
              <a:t>Helps identify affected asset types, vulnerability distribution and incident resolution performance.</a:t>
            </a:r>
            <a:endParaRPr lang="en-US" sz="800" b="1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99473B-DC6C-F676-414C-6155CFE8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89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AEE5-CA2D-B52C-6035-A9D4B591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E6679E-8A11-8D27-0617-2A45AA61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70A0FB-E1A7-18AF-5323-91C79B029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264258"/>
            <a:ext cx="8015689" cy="5415942"/>
          </a:xfrm>
        </p:spPr>
        <p:txBody>
          <a:bodyPr/>
          <a:lstStyle/>
          <a:p>
            <a:pPr marL="0" indent="0">
              <a:buNone/>
            </a:pPr>
            <a:r>
              <a:rPr lang="en-US" sz="1200" b="1" dirty="0"/>
              <a:t>Key Insights</a:t>
            </a:r>
          </a:p>
          <a:p>
            <a:r>
              <a:rPr lang="en-US" sz="1200" dirty="0"/>
              <a:t>The dashboard analysis revealed several important patterns.</a:t>
            </a:r>
          </a:p>
          <a:p>
            <a:pPr marL="0" indent="0">
              <a:buNone/>
            </a:pPr>
            <a:r>
              <a:rPr lang="en-US" sz="1200" b="1" dirty="0"/>
              <a:t>Incident Trends</a:t>
            </a:r>
          </a:p>
          <a:p>
            <a:r>
              <a:rPr lang="en-US" sz="1200" dirty="0"/>
              <a:t>Monthly incident volume fluctuated throughout the year. </a:t>
            </a:r>
          </a:p>
          <a:p>
            <a:r>
              <a:rPr lang="en-US" sz="1200" b="1" dirty="0"/>
              <a:t>November recorded the highest incident volume at 443 incidents.</a:t>
            </a:r>
            <a:r>
              <a:rPr lang="en-US" sz="1200" dirty="0"/>
              <a:t> </a:t>
            </a:r>
          </a:p>
          <a:p>
            <a:r>
              <a:rPr lang="en-US" sz="1200" b="1" dirty="0"/>
              <a:t>February recorded the lowest at 363 incidents.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b="1" dirty="0"/>
              <a:t>Threats</a:t>
            </a:r>
          </a:p>
          <a:p>
            <a:r>
              <a:rPr lang="en-US" sz="1200" b="1" dirty="0"/>
              <a:t>Social Engineering</a:t>
            </a:r>
            <a:r>
              <a:rPr lang="en-US" sz="1200" dirty="0"/>
              <a:t> represents one of the largest contributors to total incidents. </a:t>
            </a:r>
          </a:p>
          <a:p>
            <a:r>
              <a:rPr lang="en-US" sz="1200" b="1" dirty="0"/>
              <a:t>Malicious Code</a:t>
            </a:r>
            <a:r>
              <a:rPr lang="en-US" sz="1200" dirty="0"/>
              <a:t> is also a major contributor to incident volume and financial impact. </a:t>
            </a:r>
          </a:p>
          <a:p>
            <a:pPr marL="0" indent="0">
              <a:buNone/>
            </a:pPr>
            <a:r>
              <a:rPr lang="en-US" sz="1200" b="1" dirty="0"/>
              <a:t>Severity</a:t>
            </a:r>
          </a:p>
          <a:p>
            <a:r>
              <a:rPr lang="en-US" sz="1200" b="1" dirty="0"/>
              <a:t>1,259 incidents</a:t>
            </a:r>
            <a:r>
              <a:rPr lang="en-US" sz="1200" dirty="0"/>
              <a:t> were categorized as High/Critical based on the project's severity measure. </a:t>
            </a:r>
          </a:p>
          <a:p>
            <a:r>
              <a:rPr lang="en-US" sz="1200" dirty="0"/>
              <a:t>Low and Medium vulnerability categories represent a larger share of assets than High vulnerability. </a:t>
            </a:r>
          </a:p>
          <a:p>
            <a:pPr marL="0" indent="0">
              <a:buNone/>
            </a:pPr>
            <a:r>
              <a:rPr lang="en-US" sz="1200" b="1" dirty="0"/>
              <a:t>Impact</a:t>
            </a:r>
          </a:p>
          <a:p>
            <a:r>
              <a:rPr lang="en-US" sz="1200" dirty="0"/>
              <a:t>Total financial impact is approximately </a:t>
            </a:r>
            <a:r>
              <a:rPr lang="en-US" sz="1200" b="1" dirty="0"/>
              <a:t>1.82M K</a:t>
            </a:r>
            <a:r>
              <a:rPr lang="en-US" sz="1200" dirty="0"/>
              <a:t>. </a:t>
            </a:r>
          </a:p>
          <a:p>
            <a:r>
              <a:rPr lang="en-US" sz="1200" dirty="0"/>
              <a:t>Total data breached is approximately </a:t>
            </a:r>
            <a:r>
              <a:rPr lang="en-US" sz="1200" b="1" dirty="0"/>
              <a:t>73.8K GB</a:t>
            </a:r>
            <a:r>
              <a:rPr lang="en-US" sz="1200" dirty="0"/>
              <a:t>. </a:t>
            </a:r>
          </a:p>
          <a:p>
            <a:pPr marL="0" indent="0">
              <a:buNone/>
            </a:pPr>
            <a:r>
              <a:rPr lang="en-US" sz="1200" b="1" dirty="0"/>
              <a:t>Resolution</a:t>
            </a:r>
          </a:p>
          <a:p>
            <a:r>
              <a:rPr lang="en-US" sz="1200" dirty="0"/>
              <a:t>Average incident resolution time is approximately </a:t>
            </a:r>
            <a:r>
              <a:rPr lang="en-US" sz="1200" b="1" dirty="0"/>
              <a:t>120.4 hours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A1838-958D-9871-83A6-2FA76346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68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AE556-A9F5-EE99-D842-4F75893E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26C6EA-7089-3152-0D17-8BA932C8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Can Use This Dashboard?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F9312B-92FE-EECE-9BB2-DE107149C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61822"/>
            <a:ext cx="8015689" cy="501837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Potential Stakeholders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This dashboard can be useful for:</a:t>
            </a:r>
          </a:p>
          <a:p>
            <a:r>
              <a:rPr lang="en-US" b="1" dirty="0"/>
              <a:t>🛡️ Security Teams</a:t>
            </a:r>
          </a:p>
          <a:p>
            <a:r>
              <a:rPr lang="en-US" dirty="0"/>
              <a:t>Monitor incident patterns, severity and threat types.</a:t>
            </a:r>
            <a:endParaRPr lang="en-US" b="1" dirty="0"/>
          </a:p>
          <a:p>
            <a:r>
              <a:rPr lang="en-US" b="1" dirty="0"/>
              <a:t>👨‍💼 Management</a:t>
            </a:r>
          </a:p>
          <a:p>
            <a:r>
              <a:rPr lang="en-US" dirty="0"/>
              <a:t>Understand financial and operational impact.</a:t>
            </a:r>
            <a:endParaRPr lang="en-US" b="1" dirty="0"/>
          </a:p>
          <a:p>
            <a:r>
              <a:rPr lang="en-US" b="1" dirty="0"/>
              <a:t>💻 IT / Infrastructure Teams</a:t>
            </a:r>
          </a:p>
          <a:p>
            <a:r>
              <a:rPr lang="en-US" dirty="0"/>
              <a:t>Identify affected asset types and vulnerabilities.</a:t>
            </a:r>
          </a:p>
          <a:p>
            <a:r>
              <a:rPr lang="en-US" b="1" dirty="0"/>
              <a:t>👥 HR / Training Teams</a:t>
            </a:r>
          </a:p>
          <a:p>
            <a:r>
              <a:rPr lang="en-US" dirty="0"/>
              <a:t>Explore departmental and employee-related security patterns.</a:t>
            </a:r>
          </a:p>
          <a:p>
            <a:r>
              <a:rPr lang="en-US" b="1" dirty="0"/>
              <a:t>📊 Business Analysts</a:t>
            </a:r>
          </a:p>
          <a:p>
            <a:r>
              <a:rPr lang="en-US" dirty="0"/>
              <a:t>Perform exploratory analysis and identify trends.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710027-E10F-C08B-9607-A5D34E1F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97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DDEF-643C-7429-29BA-A252259E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9EBDF9-FB47-6C5F-4EAD-DAE169C8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 &amp; Future Improvements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73DE1D-EB2D-D2BC-3DF0-CF42449AF5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463040"/>
            <a:ext cx="8015689" cy="5217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Business Impact</a:t>
            </a:r>
          </a:p>
          <a:p>
            <a:r>
              <a:rPr lang="en-US" sz="1400" dirty="0"/>
              <a:t>The dashboard enables stakeholders to:</a:t>
            </a:r>
          </a:p>
          <a:p>
            <a:r>
              <a:rPr lang="en-US" sz="1400" dirty="0"/>
              <a:t>Monitor cybersecurity incidents from a single reporting interface </a:t>
            </a:r>
          </a:p>
          <a:p>
            <a:r>
              <a:rPr lang="en-US" sz="1400" dirty="0"/>
              <a:t>Identify major threat categories </a:t>
            </a:r>
          </a:p>
          <a:p>
            <a:r>
              <a:rPr lang="en-US" sz="1400" dirty="0"/>
              <a:t>Understand financial and data exposure </a:t>
            </a:r>
          </a:p>
          <a:p>
            <a:r>
              <a:rPr lang="en-US" sz="1400" dirty="0"/>
              <a:t>Compare affected departments and assets </a:t>
            </a:r>
          </a:p>
          <a:p>
            <a:r>
              <a:rPr lang="en-US" sz="1400" dirty="0"/>
              <a:t>Analyze incident resolution performance </a:t>
            </a:r>
          </a:p>
          <a:p>
            <a:r>
              <a:rPr lang="en-US" sz="1400" dirty="0"/>
              <a:t>Perform interactive exploration using filters 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b="1" dirty="0"/>
              <a:t>Future Improvements</a:t>
            </a:r>
          </a:p>
          <a:p>
            <a:r>
              <a:rPr lang="en-US" sz="1400" dirty="0"/>
              <a:t>The project could be extended by adding:</a:t>
            </a:r>
          </a:p>
          <a:p>
            <a:r>
              <a:rPr lang="en-US" sz="1400" dirty="0"/>
              <a:t>Predictive threat analysis </a:t>
            </a:r>
          </a:p>
          <a:p>
            <a:r>
              <a:rPr lang="en-US" sz="1400" dirty="0"/>
              <a:t>Machine Learning-based risk prediction </a:t>
            </a:r>
          </a:p>
          <a:p>
            <a:r>
              <a:rPr lang="en-US" sz="1400" dirty="0"/>
              <a:t>Integration with SIEM/security monitoring systems </a:t>
            </a:r>
          </a:p>
          <a:p>
            <a:r>
              <a:rPr lang="en-US" sz="1400" dirty="0"/>
              <a:t>Incident-level drill-through analysis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0450BA-B37F-3F6A-8CF8-FD604E92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73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F813-F768-4B76-ABEB-0263661A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D6516B-A1B2-B590-D1F7-9621C856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02A39B-CCE5-1C14-D901-849FB4444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53870"/>
            <a:ext cx="8015689" cy="502632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project demonstrates an end-to-end </a:t>
            </a:r>
            <a:r>
              <a:rPr lang="en-IN" b="1" dirty="0"/>
              <a:t>Power BI data analytics workflow</a:t>
            </a:r>
            <a:r>
              <a:rPr lang="en-IN" dirty="0"/>
              <a:t>:</a:t>
            </a:r>
          </a:p>
          <a:p>
            <a:r>
              <a:rPr lang="en-IN" b="1" dirty="0"/>
              <a:t>Raw Data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Cleaning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Power Query Transformation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Star Schema </a:t>
            </a:r>
            <a:r>
              <a:rPr lang="en-IN" b="1" dirty="0" err="1"/>
              <a:t>Modeling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DAX Measures &amp; KPIs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Interactive Dashboards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Business Insights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D4496-D539-2405-E34F-3D08199B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0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6331D-43BB-8D35-00FC-EE555911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D435DB-CDFC-EDE9-C9AC-F81F3E64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6BFAC7-EA19-7F69-070E-8813947E4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53870"/>
            <a:ext cx="8015689" cy="50263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Through this project, I analyzed cybersecurity incidents from multiple perspectives including </a:t>
            </a:r>
            <a:r>
              <a:rPr lang="en-US" b="1" dirty="0"/>
              <a:t>threats, severity, financial impact, data exposure, assets, departments and resolution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project helped me strengthen my practical understanding of:</a:t>
            </a:r>
          </a:p>
          <a:p>
            <a:r>
              <a:rPr lang="en-US" dirty="0"/>
              <a:t>Power Query </a:t>
            </a:r>
          </a:p>
          <a:p>
            <a:r>
              <a:rPr lang="en-US" dirty="0"/>
              <a:t>Data Modeling </a:t>
            </a:r>
          </a:p>
          <a:p>
            <a:r>
              <a:rPr lang="en-US" dirty="0"/>
              <a:t>DAX </a:t>
            </a:r>
          </a:p>
          <a:p>
            <a:r>
              <a:rPr lang="en-US" dirty="0"/>
              <a:t>Data Visualization </a:t>
            </a:r>
          </a:p>
          <a:p>
            <a:r>
              <a:rPr lang="en-US" dirty="0"/>
              <a:t>Dashboard Design </a:t>
            </a:r>
          </a:p>
          <a:p>
            <a:r>
              <a:rPr lang="en-US" dirty="0"/>
              <a:t>Interactive Reporting </a:t>
            </a:r>
          </a:p>
          <a:p>
            <a:r>
              <a:rPr lang="en-US" dirty="0"/>
              <a:t>Business Intelligence Storytelling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F940D9-6312-AA77-29DD-9DFD0FE5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15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37</TotalTime>
  <Words>1454</Words>
  <Application>Microsoft Office PowerPoint</Application>
  <PresentationFormat>Widescreen</PresentationFormat>
  <Paragraphs>296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Trade Gothic LT Pro</vt:lpstr>
      <vt:lpstr>Trebuchet MS</vt:lpstr>
      <vt:lpstr>Office Theme</vt:lpstr>
      <vt:lpstr>Cyber Security Threat Analysis</vt:lpstr>
      <vt:lpstr>Project Overview</vt:lpstr>
      <vt:lpstr>Problem Statement</vt:lpstr>
      <vt:lpstr>Project Objectives</vt:lpstr>
      <vt:lpstr>Dataset Description</vt:lpstr>
      <vt:lpstr>Data Understanding &amp; Quality Check</vt:lpstr>
      <vt:lpstr>Data Cleaning &amp; Preparation</vt:lpstr>
      <vt:lpstr>Power Query Transformations</vt:lpstr>
      <vt:lpstr>Data Modeling</vt:lpstr>
      <vt:lpstr>Date Dimension</vt:lpstr>
      <vt:lpstr>DAX Measures &amp; KPI Development</vt:lpstr>
      <vt:lpstr>Dashboard Design &amp; Navigation</vt:lpstr>
      <vt:lpstr>Dashboard 1: Executive Overview</vt:lpstr>
      <vt:lpstr>Dashboard 2: Threat Analysis</vt:lpstr>
      <vt:lpstr>Dashboard 3: Asset &amp; Employee Analysis</vt:lpstr>
      <vt:lpstr>Key Business Insights</vt:lpstr>
      <vt:lpstr>Who Can Use This Dashboard?</vt:lpstr>
      <vt:lpstr>Business Impact &amp; Future Improvements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Lambar</dc:creator>
  <cp:lastModifiedBy>Bhavesh Lambar</cp:lastModifiedBy>
  <cp:revision>1</cp:revision>
  <dcterms:created xsi:type="dcterms:W3CDTF">2026-08-13T16:34:11Z</dcterms:created>
  <dcterms:modified xsi:type="dcterms:W3CDTF">2026-08-13T17:12:09Z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